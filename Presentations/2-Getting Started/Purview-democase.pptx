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79" r:id="rId4"/>
  </p:sldMasterIdLst>
  <p:notesMasterIdLst>
    <p:notesMasterId r:id="rId10"/>
  </p:notesMasterIdLst>
  <p:handoutMasterIdLst>
    <p:handoutMasterId r:id="rId11"/>
  </p:handoutMasterIdLst>
  <p:sldIdLst>
    <p:sldId id="2147477909" r:id="rId5"/>
    <p:sldId id="2147477910" r:id="rId6"/>
    <p:sldId id="2147477911" r:id="rId7"/>
    <p:sldId id="2147477912" r:id="rId8"/>
    <p:sldId id="21474779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urview" id="{7593C3AB-83D1-4EA4-8289-D2C7D92A583A}">
          <p14:sldIdLst>
            <p14:sldId id="2147477909"/>
            <p14:sldId id="2147477910"/>
            <p14:sldId id="2147477911"/>
            <p14:sldId id="2147477912"/>
            <p14:sldId id="21474779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FB41745-652E-2147-2A4A-50176497E60F}" name="Keyuna Evans (CELA)" initials="K(" userId="S::keevans@microsoft.com::653310ed-6ca1-49d8-8b9c-3ff545fb456e" providerId="AD"/>
  <p188:author id="{4EF46D45-980D-9BDC-170B-86C0E967B25D}" name="Jermey Evans (CW)" initials="JE" userId="S::c-jermey.evans@unifyconsulting.com::cd66065b-8769-42d9-96d5-f84ec8f9f654" providerId="AD"/>
  <p188:author id="{B3D9D7A0-C492-EB33-E6B4-2EBF96925583}" name="Adi Regev" initials="AR" userId="S::adiregev@microsoft.com::13f43db5-1dcf-4dcb-b869-e14646c2a1b4" providerId="AD"/>
  <p188:author id="{7A6080A2-1382-B2F3-6F26-61C055460B22}" name="Cillian Mitchell" initials="CM" userId="S::cimitchell@microsoft.com::52ba4ba3-eafd-460a-98fa-bbd73a3d9c67" providerId="AD"/>
  <p188:author id="{43959FE5-22A0-F8C5-57E3-3E90ACBC26CE}" name="Ellie Lawler" initials="EL" userId="S::ellawler@microsoft.com::05e0f727-5dad-414b-96e1-113a11acf1b4" providerId="AD"/>
  <p188:author id="{251498F4-C808-92C1-FF8C-13AD461FA6B2}" name="Tonio Lora" initials="TL" userId="S::anlo@microsoft.com::03824593-714e-4d0e-bb47-efb9476dae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F9"/>
    <a:srgbClr val="0078D4"/>
    <a:srgbClr val="FFF8F3"/>
    <a:srgbClr val="C03BC4"/>
    <a:srgbClr val="CDC7BB"/>
    <a:srgbClr val="49C5B1"/>
    <a:srgbClr val="A84CBA"/>
    <a:srgbClr val="46BD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9"/>
    <p:restoredTop sz="95485" autoAdjust="0"/>
  </p:normalViewPr>
  <p:slideViewPr>
    <p:cSldViewPr snapToGrid="0">
      <p:cViewPr varScale="1">
        <p:scale>
          <a:sx n="130" d="100"/>
          <a:sy n="130" d="100"/>
        </p:scale>
        <p:origin x="21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Cordtz" userId="b5e592fb-fc8b-4323-a97d-691438b2e2da" providerId="ADAL" clId="{4E22EDF5-2883-5D57-B9C7-04E66950367B}"/>
    <pc:docChg chg="custSel addSld delSld modSld modSection">
      <pc:chgData name="Jan Cordtz" userId="b5e592fb-fc8b-4323-a97d-691438b2e2da" providerId="ADAL" clId="{4E22EDF5-2883-5D57-B9C7-04E66950367B}" dt="2026-04-29T13:57:28.764" v="1705" actId="20577"/>
      <pc:docMkLst>
        <pc:docMk/>
      </pc:docMkLst>
      <pc:sldChg chg="addSp modSp new mod">
        <pc:chgData name="Jan Cordtz" userId="b5e592fb-fc8b-4323-a97d-691438b2e2da" providerId="ADAL" clId="{4E22EDF5-2883-5D57-B9C7-04E66950367B}" dt="2026-04-29T13:57:28.764" v="1705" actId="20577"/>
        <pc:sldMkLst>
          <pc:docMk/>
          <pc:sldMk cId="2285384381" sldId="2147477912"/>
        </pc:sldMkLst>
        <pc:spChg chg="add mod">
          <ac:chgData name="Jan Cordtz" userId="b5e592fb-fc8b-4323-a97d-691438b2e2da" providerId="ADAL" clId="{4E22EDF5-2883-5D57-B9C7-04E66950367B}" dt="2026-04-29T13:57:28.764" v="1705" actId="20577"/>
          <ac:spMkLst>
            <pc:docMk/>
            <pc:sldMk cId="2285384381" sldId="2147477912"/>
            <ac:spMk id="10" creationId="{5F9C0E11-5B9B-52AD-2A6F-FCF8D411537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620E76-BD2A-807A-4F6B-E2A2A22838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29C42-B4BE-60D8-A545-51ED2B96F3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5ECE5-EB93-2D49-8FD9-DADF7BF71AD3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DE36F-DAD8-F01F-BFE8-FDEDCF89C9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1387A-ED64-7FD6-C691-6161AE846A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08420-07C5-0549-A563-96974B861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41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44038-DA64-46A7-879B-15C019DD587C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54E06-3DA0-4567-A557-9A2D7B97E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2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sz="90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453572-9C5C-4AEF-8FA5-D17DDB1F0B8A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4/29/26 3:51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932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2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53A46E-C8B2-07FC-6842-6E29F4237B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 flipH="1">
            <a:off x="0" y="-6626"/>
            <a:ext cx="12192000" cy="6864626"/>
          </a:xfrm>
          <a:prstGeom prst="rect">
            <a:avLst/>
          </a:prstGeom>
        </p:spPr>
      </p:pic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BD9C85B-EC8F-D695-0FA1-6791980AB2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9551" y="4038049"/>
            <a:ext cx="3231416" cy="13985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3200">
                <a:solidFill>
                  <a:schemeClr val="bg1"/>
                </a:solidFill>
                <a:latin typeface="Segoe Sans Display" pitchFamily="2" charset="0"/>
                <a:cs typeface="Segoe Sans Display" pitchFamily="2" charset="0"/>
              </a:defRPr>
            </a:lvl1pPr>
          </a:lstStyle>
          <a:p>
            <a:pPr marL="228600" lvl="0" indent="-228600"/>
            <a:r>
              <a:rPr lang="en-US" dirty="0"/>
              <a:t>Section title one</a:t>
            </a:r>
          </a:p>
        </p:txBody>
      </p:sp>
    </p:spTree>
    <p:extLst>
      <p:ext uri="{BB962C8B-B14F-4D97-AF65-F5344CB8AC3E}">
        <p14:creationId xmlns:p14="http://schemas.microsoft.com/office/powerpoint/2010/main" val="590366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18DD5-394A-4676-966A-43A5BAC6E0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Microsoft Purview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99517-6D70-91AD-1227-F9D6955CDA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356FBF-028C-F74E-A7B4-9B8ED246DD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536199F-AFBB-90E6-3138-4F79DE029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5"/>
            <a:ext cx="11029949" cy="54927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34D1DF6D-FC7A-C5D0-48D8-C8E0A0336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7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0" pos="1967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1" pos="5120">
          <p15:clr>
            <a:srgbClr val="A4A3A4"/>
          </p15:clr>
        </p15:guide>
        <p15:guide id="25" pos="6308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EC2CAC23-1268-5E7C-87AE-680DA7F18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0543" y="0"/>
            <a:ext cx="5671457" cy="31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8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>
          <p15:clr>
            <a:srgbClr val="A4A3A4"/>
          </p15:clr>
        </p15:guide>
        <p15:guide id="16" pos="38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51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087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ird, parrot&#10;&#10;Description automatically generated">
            <a:extLst>
              <a:ext uri="{FF2B5EF4-FFF2-40B4-BE49-F238E27FC236}">
                <a16:creationId xmlns:a16="http://schemas.microsoft.com/office/drawing/2014/main" id="{B6C67116-D23B-FFB4-4BF9-4EBB603DB7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53"/>
          <a:stretch/>
        </p:blipFill>
        <p:spPr>
          <a:xfrm rot="1200000" flipH="1">
            <a:off x="7572751" y="-710028"/>
            <a:ext cx="5701622" cy="296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2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950A1-EF57-F961-9B38-13F40395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 flipH="1">
            <a:off x="0" y="-6626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38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950A1-EF57-F961-9B38-13F40395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52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flower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458CC301-4694-33FA-1A6F-2621EAAF1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555"/>
          <a:stretch/>
        </p:blipFill>
        <p:spPr>
          <a:xfrm>
            <a:off x="7472516" y="0"/>
            <a:ext cx="4719484" cy="631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28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5484"/>
          <a:stretch/>
        </p:blipFill>
        <p:spPr>
          <a:xfrm>
            <a:off x="0" y="2473263"/>
            <a:ext cx="4316896" cy="438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60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586" b="-20295"/>
          <a:stretch/>
        </p:blipFill>
        <p:spPr>
          <a:xfrm>
            <a:off x="0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17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431" b="-61696"/>
          <a:stretch/>
        </p:blipFill>
        <p:spPr>
          <a:xfrm>
            <a:off x="0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76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431" b="-61696"/>
          <a:stretch/>
        </p:blipFill>
        <p:spPr>
          <a:xfrm flipH="1">
            <a:off x="9351981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33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EC2CAC23-1268-5E7C-87AE-680DA7F18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5671457" cy="31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0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>
          <p15:clr>
            <a:srgbClr val="A4A3A4"/>
          </p15:clr>
        </p15:guide>
        <p15:guide id="16" pos="38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66EA4E-E3A5-ACC6-B2DC-68BF63F336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FB2B87-FEB5-658C-7141-B83573CC29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356FBF-028C-F74E-A7B4-9B8ED246DD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6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99B5728-1D33-9E0D-152D-CDDC5FCE9D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132963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532" imgH="533" progId="TCLayout.ActiveDocument.1">
                  <p:embed/>
                </p:oleObj>
              </mc:Choice>
              <mc:Fallback>
                <p:oleObj name="think-cell Slide" r:id="rId19" imgW="532" imgH="53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9B5728-1D33-9E0D-152D-CDDC5FCE9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E9EE7-FB3C-7D1F-A2DB-596E0938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5"/>
            <a:ext cx="11029949" cy="8286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Title Slides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7FA82-318A-3A34-2934-24B034B58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2571" y="6309519"/>
            <a:ext cx="3992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fld id="{B1356FBF-028C-F74E-A7B4-9B8ED246DD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92EE12-E16C-066A-7EFA-7E3A5BF6D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1859" y="6309519"/>
            <a:ext cx="2078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r>
              <a:rPr lang="en-US" dirty="0"/>
              <a:t>Microsoft Purview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60E398-2D0F-4954-1796-3B6310DECA0C}"/>
              </a:ext>
            </a:extLst>
          </p:cNvPr>
          <p:cNvSpPr txBox="1"/>
          <p:nvPr userDrawn="1"/>
        </p:nvSpPr>
        <p:spPr>
          <a:xfrm>
            <a:off x="10445303" y="6383710"/>
            <a:ext cx="17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666666"/>
                </a:solidFill>
                <a:latin typeface="Segoe Sans Display" pitchFamily="2" charset="0"/>
                <a:cs typeface="Segoe Sans Display" pitchFamily="2" charset="0"/>
              </a:rPr>
              <a:t>Microsoft Purview</a:t>
            </a:r>
          </a:p>
        </p:txBody>
      </p:sp>
    </p:spTree>
    <p:extLst>
      <p:ext uri="{BB962C8B-B14F-4D97-AF65-F5344CB8AC3E}">
        <p14:creationId xmlns:p14="http://schemas.microsoft.com/office/powerpoint/2010/main" val="216756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5" r:id="rId1"/>
    <p:sldLayoutId id="2147484688" r:id="rId2"/>
    <p:sldLayoutId id="2147484701" r:id="rId3"/>
    <p:sldLayoutId id="2147484803" r:id="rId4"/>
    <p:sldLayoutId id="2147484804" r:id="rId5"/>
    <p:sldLayoutId id="2147484805" r:id="rId6"/>
    <p:sldLayoutId id="2147484806" r:id="rId7"/>
    <p:sldLayoutId id="2147484807" r:id="rId8"/>
    <p:sldLayoutId id="2147484808" r:id="rId9"/>
    <p:sldLayoutId id="2147484809" r:id="rId10"/>
    <p:sldLayoutId id="2147484810" r:id="rId11"/>
    <p:sldLayoutId id="2147484811" r:id="rId12"/>
    <p:sldLayoutId id="2147484812" r:id="rId13"/>
    <p:sldLayoutId id="2147484813" r:id="rId14"/>
    <p:sldLayoutId id="2147484814" r:id="rId15"/>
    <p:sldLayoutId id="2147484819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j-lt"/>
          <a:ea typeface="+mj-ea"/>
          <a:cs typeface="Segoe Sans Display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9">
          <p15:clr>
            <a:srgbClr val="F26B43"/>
          </p15:clr>
        </p15:guide>
        <p15:guide id="2" pos="366">
          <p15:clr>
            <a:srgbClr val="F26B43"/>
          </p15:clr>
        </p15:guide>
        <p15:guide id="4" pos="7314">
          <p15:clr>
            <a:srgbClr val="F26B43"/>
          </p15:clr>
        </p15:guide>
        <p15:guide id="5" orient="horz" pos="576">
          <p15:clr>
            <a:srgbClr val="F26B43"/>
          </p15:clr>
        </p15:guide>
        <p15:guide id="6" orient="horz" pos="760">
          <p15:clr>
            <a:srgbClr val="F26B43"/>
          </p15:clr>
        </p15:guide>
        <p15:guide id="7" orient="horz" pos="1070">
          <p15:clr>
            <a:srgbClr val="F26B43"/>
          </p15:clr>
        </p15:guide>
        <p15:guide id="8" orient="horz" pos="3973">
          <p15:clr>
            <a:srgbClr val="F26B43"/>
          </p15:clr>
        </p15:guide>
        <p15:guide id="9" pos="1968">
          <p15:clr>
            <a:srgbClr val="A4A3A4"/>
          </p15:clr>
        </p15:guide>
        <p15:guide id="10" pos="2148">
          <p15:clr>
            <a:srgbClr val="A4A3A4"/>
          </p15:clr>
        </p15:guide>
        <p15:guide id="11" pos="3750">
          <p15:clr>
            <a:srgbClr val="A4A3A4"/>
          </p15:clr>
        </p15:guide>
        <p15:guide id="12" pos="3930">
          <p15:clr>
            <a:srgbClr val="A4A3A4"/>
          </p15:clr>
        </p15:guide>
        <p15:guide id="13" pos="5532">
          <p15:clr>
            <a:srgbClr val="A4A3A4"/>
          </p15:clr>
        </p15:guide>
        <p15:guide id="14" pos="5712">
          <p15:clr>
            <a:srgbClr val="A4A3A4"/>
          </p15:clr>
        </p15:guide>
        <p15:guide id="15" pos="7496">
          <p15:clr>
            <a:srgbClr val="A4A3A4"/>
          </p15:clr>
        </p15:guide>
        <p15:guide id="16" pos="186">
          <p15:clr>
            <a:srgbClr val="A4A3A4"/>
          </p15:clr>
        </p15:guide>
        <p15:guide id="17" pos="780">
          <p15:clr>
            <a:srgbClr val="A4A3A4"/>
          </p15:clr>
        </p15:guide>
        <p15:guide id="18" pos="957">
          <p15:clr>
            <a:srgbClr val="A4A3A4"/>
          </p15:clr>
        </p15:guide>
        <p15:guide id="19" pos="1374">
          <p15:clr>
            <a:srgbClr val="A4A3A4"/>
          </p15:clr>
        </p15:guide>
        <p15:guide id="20" pos="1554">
          <p15:clr>
            <a:srgbClr val="A4A3A4"/>
          </p15:clr>
        </p15:guide>
        <p15:guide id="21" pos="2562">
          <p15:clr>
            <a:srgbClr val="A4A3A4"/>
          </p15:clr>
        </p15:guide>
        <p15:guide id="22" pos="2739">
          <p15:clr>
            <a:srgbClr val="A4A3A4"/>
          </p15:clr>
        </p15:guide>
        <p15:guide id="23" pos="3156">
          <p15:clr>
            <a:srgbClr val="A4A3A4"/>
          </p15:clr>
        </p15:guide>
        <p15:guide id="24" pos="3336">
          <p15:clr>
            <a:srgbClr val="A4A3A4"/>
          </p15:clr>
        </p15:guide>
        <p15:guide id="25" pos="4344">
          <p15:clr>
            <a:srgbClr val="A4A3A4"/>
          </p15:clr>
        </p15:guide>
        <p15:guide id="26" pos="4526">
          <p15:clr>
            <a:srgbClr val="A4A3A4"/>
          </p15:clr>
        </p15:guide>
        <p15:guide id="27" pos="4938">
          <p15:clr>
            <a:srgbClr val="A4A3A4"/>
          </p15:clr>
        </p15:guide>
        <p15:guide id="28" pos="5120">
          <p15:clr>
            <a:srgbClr val="A4A3A4"/>
          </p15:clr>
        </p15:guide>
        <p15:guide id="29" pos="6126">
          <p15:clr>
            <a:srgbClr val="A4A3A4"/>
          </p15:clr>
        </p15:guide>
        <p15:guide id="30" pos="6308">
          <p15:clr>
            <a:srgbClr val="A4A3A4"/>
          </p15:clr>
        </p15:guide>
        <p15:guide id="31" pos="6720">
          <p15:clr>
            <a:srgbClr val="A4A3A4"/>
          </p15:clr>
        </p15:guide>
        <p15:guide id="32" pos="690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40CB8A5C-7978-D6DF-6BCB-6AA6077897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59176" y="1897935"/>
            <a:ext cx="4446587" cy="2032000"/>
          </a:xfrm>
        </p:spPr>
        <p:txBody>
          <a:bodyPr/>
          <a:lstStyle/>
          <a:p>
            <a:r>
              <a:rPr lang="en-GB" b="1" dirty="0"/>
              <a:t>Microsoft Purview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The </a:t>
            </a:r>
            <a:r>
              <a:rPr lang="en-GB" i="1" dirty="0" err="1"/>
              <a:t>jcopurview</a:t>
            </a:r>
            <a:br>
              <a:rPr lang="en-GB" dirty="0"/>
            </a:br>
            <a:r>
              <a:rPr lang="en-GB" dirty="0"/>
              <a:t>Demo company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FE63F7-CA11-EE0D-34D2-1201EFE93977}"/>
              </a:ext>
            </a:extLst>
          </p:cNvPr>
          <p:cNvSpPr txBox="1"/>
          <p:nvPr/>
        </p:nvSpPr>
        <p:spPr>
          <a:xfrm>
            <a:off x="6759176" y="4222875"/>
            <a:ext cx="41692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Jan Cordtz, Snr. Cloud Solution Architect</a:t>
            </a:r>
          </a:p>
          <a:p>
            <a:r>
              <a:rPr lang="en-US" dirty="0"/>
              <a:t>Microsoft Denmark</a:t>
            </a:r>
          </a:p>
          <a:p>
            <a:endParaRPr lang="en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8D2DC-C8B4-6322-2C43-B0CC81930541}"/>
              </a:ext>
            </a:extLst>
          </p:cNvPr>
          <p:cNvSpPr txBox="1"/>
          <p:nvPr/>
        </p:nvSpPr>
        <p:spPr>
          <a:xfrm>
            <a:off x="622852" y="2913935"/>
            <a:ext cx="4018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If you think compliance is complicated,</a:t>
            </a:r>
            <a:br>
              <a:rPr lang="en-GB" b="1" dirty="0">
                <a:solidFill>
                  <a:schemeClr val="bg1"/>
                </a:solidFill>
              </a:rPr>
            </a:br>
            <a:r>
              <a:rPr lang="en-GB" b="1" dirty="0">
                <a:solidFill>
                  <a:schemeClr val="bg1"/>
                </a:solidFill>
              </a:rPr>
              <a:t>feel free to try incompliance!</a:t>
            </a:r>
            <a:endParaRPr lang="en-DK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21A6C-97B1-2888-CE88-F83D203B392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3390"/>
          <a:stretch/>
        </p:blipFill>
        <p:spPr>
          <a:xfrm>
            <a:off x="8595466" y="6211544"/>
            <a:ext cx="1566909" cy="54400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15BF0C-A693-8110-B0D8-35654CBC84D2}"/>
              </a:ext>
            </a:extLst>
          </p:cNvPr>
          <p:cNvCxnSpPr/>
          <p:nvPr/>
        </p:nvCxnSpPr>
        <p:spPr>
          <a:xfrm>
            <a:off x="10299391" y="6292598"/>
            <a:ext cx="0" cy="45258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619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ople doing teamwork illustration">
            <a:extLst>
              <a:ext uri="{FF2B5EF4-FFF2-40B4-BE49-F238E27FC236}">
                <a16:creationId xmlns:a16="http://schemas.microsoft.com/office/drawing/2014/main" id="{34BAE8FA-F096-8F01-6793-ABB744A01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63" y="2911365"/>
            <a:ext cx="5434197" cy="34334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2F769A-DA39-D1C0-79B3-4116C1B5330C}"/>
              </a:ext>
            </a:extLst>
          </p:cNvPr>
          <p:cNvSpPr txBox="1"/>
          <p:nvPr/>
        </p:nvSpPr>
        <p:spPr>
          <a:xfrm>
            <a:off x="2953640" y="407779"/>
            <a:ext cx="6870403" cy="313932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DF9"/>
                </a:solidFill>
              </a:rPr>
              <a:t>The Getting started slide-deck uses a </a:t>
            </a:r>
            <a:r>
              <a:rPr lang="en-US" i="1" dirty="0">
                <a:solidFill>
                  <a:srgbClr val="FFFDF9"/>
                </a:solidFill>
              </a:rPr>
              <a:t>strange</a:t>
            </a:r>
            <a:r>
              <a:rPr lang="en-US" dirty="0">
                <a:solidFill>
                  <a:srgbClr val="FFFDF9"/>
                </a:solidFill>
              </a:rPr>
              <a:t> company called </a:t>
            </a:r>
          </a:p>
          <a:p>
            <a:pPr algn="ctr"/>
            <a:endParaRPr lang="en-US" b="1" dirty="0">
              <a:solidFill>
                <a:srgbClr val="FFFDF9"/>
              </a:solidFill>
            </a:endParaRPr>
          </a:p>
          <a:p>
            <a:pPr algn="ctr"/>
            <a:r>
              <a:rPr lang="en-US" b="1" dirty="0" err="1">
                <a:solidFill>
                  <a:srgbClr val="FFC000"/>
                </a:solidFill>
              </a:rPr>
              <a:t>jcopurview</a:t>
            </a:r>
            <a:r>
              <a:rPr lang="en-US" dirty="0">
                <a:solidFill>
                  <a:srgbClr val="FFFDF9"/>
                </a:solidFill>
              </a:rPr>
              <a:t>.</a:t>
            </a:r>
          </a:p>
          <a:p>
            <a:endParaRPr lang="en-US" dirty="0">
              <a:solidFill>
                <a:srgbClr val="FFFDF9"/>
              </a:solidFill>
            </a:endParaRPr>
          </a:p>
          <a:p>
            <a:endParaRPr lang="en-US" dirty="0">
              <a:solidFill>
                <a:srgbClr val="FFFDF9"/>
              </a:solidFill>
            </a:endParaRPr>
          </a:p>
          <a:p>
            <a:r>
              <a:rPr lang="en-US" dirty="0">
                <a:solidFill>
                  <a:srgbClr val="FFFDF9"/>
                </a:solidFill>
              </a:rPr>
              <a:t>This company has variety of different systems they use to run their </a:t>
            </a:r>
            <a:r>
              <a:rPr lang="en-US" i="1" dirty="0">
                <a:solidFill>
                  <a:srgbClr val="FFFDF9"/>
                </a:solidFill>
              </a:rPr>
              <a:t>business</a:t>
            </a:r>
            <a:r>
              <a:rPr lang="en-US" dirty="0">
                <a:solidFill>
                  <a:srgbClr val="FFFDF9"/>
                </a:solidFill>
              </a:rPr>
              <a:t>.</a:t>
            </a:r>
          </a:p>
          <a:p>
            <a:endParaRPr lang="en-US" dirty="0">
              <a:solidFill>
                <a:srgbClr val="FFFDF9"/>
              </a:solidFill>
            </a:endParaRPr>
          </a:p>
          <a:p>
            <a:r>
              <a:rPr lang="en-US" dirty="0">
                <a:solidFill>
                  <a:srgbClr val="FFFDF9"/>
                </a:solidFill>
              </a:rPr>
              <a:t>It is not a well-organized company, because their business is to do Microsoft demos hence, they want to be able to showcase many different aspects of Microsoft Purview Data Governance </a:t>
            </a:r>
            <a:r>
              <a:rPr lang="en-US" dirty="0">
                <a:solidFill>
                  <a:srgbClr val="FFFDF9"/>
                </a:solidFill>
                <a:sym typeface="Wingdings" pitchFamily="2" charset="2"/>
              </a:rPr>
              <a:t></a:t>
            </a:r>
            <a:r>
              <a:rPr lang="en-US" dirty="0">
                <a:solidFill>
                  <a:srgbClr val="FFFDF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7873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Scroll 3">
            <a:extLst>
              <a:ext uri="{FF2B5EF4-FFF2-40B4-BE49-F238E27FC236}">
                <a16:creationId xmlns:a16="http://schemas.microsoft.com/office/drawing/2014/main" id="{4A925E7F-E33D-9DE0-89F5-F32B693BAB60}"/>
              </a:ext>
            </a:extLst>
          </p:cNvPr>
          <p:cNvSpPr/>
          <p:nvPr/>
        </p:nvSpPr>
        <p:spPr>
          <a:xfrm flipH="1">
            <a:off x="536448" y="707136"/>
            <a:ext cx="6681216" cy="5657088"/>
          </a:xfrm>
          <a:prstGeom prst="verticalScroll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FDF9"/>
                </a:solidFill>
              </a:rPr>
              <a:t>Snowflake demo database - Order data</a:t>
            </a:r>
          </a:p>
          <a:p>
            <a:r>
              <a:rPr lang="en-US" dirty="0">
                <a:solidFill>
                  <a:srgbClr val="FFFDF9"/>
                </a:solidFill>
              </a:rPr>
              <a:t>Dynamics CRM – CRM system</a:t>
            </a:r>
          </a:p>
          <a:p>
            <a:endParaRPr lang="en-US" dirty="0">
              <a:solidFill>
                <a:srgbClr val="FFFDF9"/>
              </a:solidFill>
            </a:endParaRPr>
          </a:p>
          <a:p>
            <a:r>
              <a:rPr lang="en-US" dirty="0">
                <a:solidFill>
                  <a:srgbClr val="FFFDF9"/>
                </a:solidFill>
              </a:rPr>
              <a:t>Oracle DB – employee data</a:t>
            </a:r>
          </a:p>
          <a:p>
            <a:r>
              <a:rPr lang="en-US" dirty="0">
                <a:solidFill>
                  <a:srgbClr val="FFFDF9"/>
                </a:solidFill>
              </a:rPr>
              <a:t>IBM DB2 – order and employee data</a:t>
            </a:r>
          </a:p>
          <a:p>
            <a:r>
              <a:rPr lang="en-US" dirty="0">
                <a:solidFill>
                  <a:srgbClr val="FFFDF9"/>
                </a:solidFill>
              </a:rPr>
              <a:t>SQL server – adventure retail data</a:t>
            </a:r>
          </a:p>
          <a:p>
            <a:endParaRPr lang="en-US" dirty="0">
              <a:solidFill>
                <a:srgbClr val="FFFDF9"/>
              </a:solidFill>
            </a:endParaRPr>
          </a:p>
          <a:p>
            <a:r>
              <a:rPr lang="en-US" dirty="0">
                <a:solidFill>
                  <a:srgbClr val="FFFDF9"/>
                </a:solidFill>
              </a:rPr>
              <a:t>Azure Databricks Unity – the medallion setup</a:t>
            </a:r>
          </a:p>
          <a:p>
            <a:r>
              <a:rPr lang="en-US" dirty="0">
                <a:solidFill>
                  <a:srgbClr val="FFFDF9"/>
                </a:solidFill>
              </a:rPr>
              <a:t>Azure Data Lake – file sources and storage for medallion DW</a:t>
            </a:r>
          </a:p>
          <a:p>
            <a:endParaRPr lang="en-US" dirty="0">
              <a:solidFill>
                <a:srgbClr val="FFFDF9"/>
              </a:solidFill>
            </a:endParaRPr>
          </a:p>
          <a:p>
            <a:r>
              <a:rPr lang="en-US" dirty="0">
                <a:solidFill>
                  <a:srgbClr val="FFFDF9"/>
                </a:solidFill>
              </a:rPr>
              <a:t>Amazon S3 – file store for source data</a:t>
            </a:r>
          </a:p>
          <a:p>
            <a:endParaRPr lang="en-US" dirty="0">
              <a:solidFill>
                <a:srgbClr val="FFFDF9"/>
              </a:solidFill>
            </a:endParaRPr>
          </a:p>
          <a:p>
            <a:r>
              <a:rPr lang="en-US" dirty="0">
                <a:solidFill>
                  <a:srgbClr val="FFFDF9"/>
                </a:solidFill>
              </a:rPr>
              <a:t>Azure Data Factory – moving data around</a:t>
            </a:r>
          </a:p>
          <a:p>
            <a:r>
              <a:rPr lang="en-US" dirty="0">
                <a:solidFill>
                  <a:srgbClr val="FFFDF9"/>
                </a:solidFill>
              </a:rPr>
              <a:t>Fabric/Power BI – making reporting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CA87EE-285B-A64E-647A-20B35E370FDF}"/>
              </a:ext>
            </a:extLst>
          </p:cNvPr>
          <p:cNvSpPr txBox="1"/>
          <p:nvPr/>
        </p:nvSpPr>
        <p:spPr>
          <a:xfrm>
            <a:off x="950976" y="911038"/>
            <a:ext cx="4548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DF9"/>
                </a:solidFill>
              </a:rPr>
              <a:t>Currently their system portfolio is as follows:</a:t>
            </a:r>
          </a:p>
        </p:txBody>
      </p:sp>
    </p:spTree>
    <p:extLst>
      <p:ext uri="{BB962C8B-B14F-4D97-AF65-F5344CB8AC3E}">
        <p14:creationId xmlns:p14="http://schemas.microsoft.com/office/powerpoint/2010/main" val="4208972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C6FA2E1-8B4E-2D30-84A8-0B75C5FF2E0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096000" y="3399880"/>
            <a:ext cx="0" cy="2450019"/>
          </a:xfrm>
          <a:prstGeom prst="line">
            <a:avLst/>
          </a:prstGeom>
          <a:ln w="38100" cmpd="sng"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5F3219-63B4-78EC-F879-F7FB7F995899}"/>
              </a:ext>
            </a:extLst>
          </p:cNvPr>
          <p:cNvCxnSpPr>
            <a:cxnSpLocks/>
          </p:cNvCxnSpPr>
          <p:nvPr/>
        </p:nvCxnSpPr>
        <p:spPr>
          <a:xfrm>
            <a:off x="3171151" y="3988676"/>
            <a:ext cx="25155" cy="2176700"/>
          </a:xfrm>
          <a:prstGeom prst="line">
            <a:avLst/>
          </a:prstGeom>
          <a:ln w="38100" cmpd="sng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E779FD3-1224-0169-8C6D-6F3AA849BE7D}"/>
              </a:ext>
            </a:extLst>
          </p:cNvPr>
          <p:cNvCxnSpPr>
            <a:cxnSpLocks/>
          </p:cNvCxnSpPr>
          <p:nvPr/>
        </p:nvCxnSpPr>
        <p:spPr>
          <a:xfrm flipH="1">
            <a:off x="1335622" y="3988676"/>
            <a:ext cx="19880" cy="961808"/>
          </a:xfrm>
          <a:prstGeom prst="line">
            <a:avLst/>
          </a:prstGeom>
          <a:ln w="38100" cmpd="sng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Brace 17">
            <a:extLst>
              <a:ext uri="{FF2B5EF4-FFF2-40B4-BE49-F238E27FC236}">
                <a16:creationId xmlns:a16="http://schemas.microsoft.com/office/drawing/2014/main" id="{1DD8025A-8312-3513-5B0E-3D768DFA58BE}"/>
              </a:ext>
            </a:extLst>
          </p:cNvPr>
          <p:cNvSpPr/>
          <p:nvPr/>
        </p:nvSpPr>
        <p:spPr>
          <a:xfrm rot="16200000">
            <a:off x="3895510" y="840951"/>
            <a:ext cx="699314" cy="3701672"/>
          </a:xfrm>
          <a:prstGeom prst="rightBrace">
            <a:avLst>
              <a:gd name="adj1" fmla="val 51674"/>
              <a:gd name="adj2" fmla="val 50000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BC3AC029-F0EA-589F-7B4E-F9121C429763}"/>
              </a:ext>
            </a:extLst>
          </p:cNvPr>
          <p:cNvSpPr/>
          <p:nvPr/>
        </p:nvSpPr>
        <p:spPr>
          <a:xfrm rot="16200000">
            <a:off x="1918998" y="2625010"/>
            <a:ext cx="562610" cy="1718359"/>
          </a:xfrm>
          <a:prstGeom prst="rightBrace">
            <a:avLst>
              <a:gd name="adj1" fmla="val 54177"/>
              <a:gd name="adj2" fmla="val 50000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3D1637-D9E3-B1A6-C318-9E2CF9A49273}"/>
              </a:ext>
            </a:extLst>
          </p:cNvPr>
          <p:cNvSpPr txBox="1"/>
          <p:nvPr/>
        </p:nvSpPr>
        <p:spPr>
          <a:xfrm>
            <a:off x="714703" y="1093076"/>
            <a:ext cx="7490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data source is organized to reflect their supposed installation location.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55EF1-8347-A564-B79A-E65AF64140C2}"/>
              </a:ext>
            </a:extLst>
          </p:cNvPr>
          <p:cNvSpPr txBox="1"/>
          <p:nvPr/>
        </p:nvSpPr>
        <p:spPr>
          <a:xfrm>
            <a:off x="2394329" y="2033651"/>
            <a:ext cx="400494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Jcopurview</a:t>
            </a:r>
            <a:r>
              <a:rPr lang="en-US" dirty="0"/>
              <a:t> – the default top collection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12017-A7F9-A25C-18F4-430D4CB0F177}"/>
              </a:ext>
            </a:extLst>
          </p:cNvPr>
          <p:cNvSpPr txBox="1"/>
          <p:nvPr/>
        </p:nvSpPr>
        <p:spPr>
          <a:xfrm>
            <a:off x="1855303" y="2861441"/>
            <a:ext cx="132991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Data-stores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478AB-2A2B-D67C-EB07-ADDEF70B535B}"/>
              </a:ext>
            </a:extLst>
          </p:cNvPr>
          <p:cNvSpPr txBox="1"/>
          <p:nvPr/>
        </p:nvSpPr>
        <p:spPr>
          <a:xfrm>
            <a:off x="5396129" y="3030548"/>
            <a:ext cx="1399742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Applications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DA487E-F3CC-0C1F-649B-5A143E6C5271}"/>
              </a:ext>
            </a:extLst>
          </p:cNvPr>
          <p:cNvSpPr txBox="1"/>
          <p:nvPr/>
        </p:nvSpPr>
        <p:spPr>
          <a:xfrm>
            <a:off x="877842" y="3619344"/>
            <a:ext cx="1094402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On-Prem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51413-A935-0C77-A20B-DD4EF4B0CD8F}"/>
              </a:ext>
            </a:extLst>
          </p:cNvPr>
          <p:cNvSpPr txBox="1"/>
          <p:nvPr/>
        </p:nvSpPr>
        <p:spPr>
          <a:xfrm>
            <a:off x="2785469" y="3619344"/>
            <a:ext cx="771365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Cloud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3C234D-25C5-2181-C12F-4BD2F587269F}"/>
              </a:ext>
            </a:extLst>
          </p:cNvPr>
          <p:cNvSpPr txBox="1"/>
          <p:nvPr/>
        </p:nvSpPr>
        <p:spPr>
          <a:xfrm>
            <a:off x="5318462" y="4419712"/>
            <a:ext cx="1182568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DF9"/>
                </a:solidFill>
              </a:rPr>
              <a:t>Salesforce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51094E-69E8-7B3C-035A-0655AA9D9EF2}"/>
              </a:ext>
            </a:extLst>
          </p:cNvPr>
          <p:cNvSpPr txBox="1"/>
          <p:nvPr/>
        </p:nvSpPr>
        <p:spPr>
          <a:xfrm>
            <a:off x="877842" y="4377247"/>
            <a:ext cx="1176797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DF9"/>
                </a:solidFill>
              </a:rPr>
              <a:t>Oracle 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9C0E11-5B9B-52AD-2A6F-FCF8D4115373}"/>
              </a:ext>
            </a:extLst>
          </p:cNvPr>
          <p:cNvSpPr txBox="1"/>
          <p:nvPr/>
        </p:nvSpPr>
        <p:spPr>
          <a:xfrm>
            <a:off x="877842" y="4950484"/>
            <a:ext cx="1042273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FDF9"/>
                </a:solidFill>
              </a:rPr>
              <a:t>IBM </a:t>
            </a:r>
            <a:r>
              <a:rPr lang="en-US" dirty="0">
                <a:solidFill>
                  <a:srgbClr val="FFFDF9"/>
                </a:solidFill>
              </a:rPr>
              <a:t>DB2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101F7C-E025-88B3-A82E-93E6FE7A6EFC}"/>
              </a:ext>
            </a:extLst>
          </p:cNvPr>
          <p:cNvSpPr txBox="1"/>
          <p:nvPr/>
        </p:nvSpPr>
        <p:spPr>
          <a:xfrm>
            <a:off x="2785469" y="4419712"/>
            <a:ext cx="1274708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DF9"/>
                </a:solidFill>
              </a:rPr>
              <a:t>SQL Server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F0BA68-0585-E9FB-602D-1DB04EA7827D}"/>
              </a:ext>
            </a:extLst>
          </p:cNvPr>
          <p:cNvSpPr txBox="1"/>
          <p:nvPr/>
        </p:nvSpPr>
        <p:spPr>
          <a:xfrm>
            <a:off x="2785469" y="4973710"/>
            <a:ext cx="1332031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FDF9"/>
                </a:solidFill>
              </a:rPr>
              <a:t>PostgreSQL</a:t>
            </a:r>
            <a:endParaRPr lang="en-US" dirty="0">
              <a:solidFill>
                <a:srgbClr val="FFFDF9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C9592F-2FD1-CA85-A649-3A948BD0A33A}"/>
              </a:ext>
            </a:extLst>
          </p:cNvPr>
          <p:cNvSpPr txBox="1"/>
          <p:nvPr/>
        </p:nvSpPr>
        <p:spPr>
          <a:xfrm>
            <a:off x="5318462" y="4950484"/>
            <a:ext cx="1138453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DF9"/>
                </a:solidFill>
              </a:rPr>
              <a:t>Dynamics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E58355-28D0-84D7-8AA0-F29563AD0367}"/>
              </a:ext>
            </a:extLst>
          </p:cNvPr>
          <p:cNvSpPr txBox="1"/>
          <p:nvPr/>
        </p:nvSpPr>
        <p:spPr>
          <a:xfrm>
            <a:off x="2785469" y="5481256"/>
            <a:ext cx="951030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DF9"/>
                </a:solidFill>
              </a:rPr>
              <a:t>AWS S3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AF4829-B509-34D2-E0B6-2EF5EBEDF9E1}"/>
              </a:ext>
            </a:extLst>
          </p:cNvPr>
          <p:cNvSpPr txBox="1"/>
          <p:nvPr/>
        </p:nvSpPr>
        <p:spPr>
          <a:xfrm>
            <a:off x="2785469" y="5980710"/>
            <a:ext cx="173444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DF9"/>
                </a:solidFill>
              </a:rPr>
              <a:t>Azure </a:t>
            </a:r>
            <a:r>
              <a:rPr lang="en-US" dirty="0" err="1">
                <a:solidFill>
                  <a:srgbClr val="FFFDF9"/>
                </a:solidFill>
              </a:rPr>
              <a:t>DataLake</a:t>
            </a:r>
            <a:endParaRPr lang="en-US" dirty="0">
              <a:solidFill>
                <a:srgbClr val="FFFDF9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D8AE7F-21BA-18C8-0122-93F4B3DE89A8}"/>
              </a:ext>
            </a:extLst>
          </p:cNvPr>
          <p:cNvCxnSpPr/>
          <p:nvPr/>
        </p:nvCxnSpPr>
        <p:spPr>
          <a:xfrm>
            <a:off x="325821" y="4183117"/>
            <a:ext cx="787920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427396C-51C9-F01A-0E78-01495F963C37}"/>
              </a:ext>
            </a:extLst>
          </p:cNvPr>
          <p:cNvSpPr txBox="1"/>
          <p:nvPr/>
        </p:nvSpPr>
        <p:spPr>
          <a:xfrm>
            <a:off x="6917257" y="3882269"/>
            <a:ext cx="1146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Collections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1F118A-FD72-4C50-347B-1B826D5D58E7}"/>
              </a:ext>
            </a:extLst>
          </p:cNvPr>
          <p:cNvSpPr txBox="1"/>
          <p:nvPr/>
        </p:nvSpPr>
        <p:spPr>
          <a:xfrm>
            <a:off x="6917257" y="4183117"/>
            <a:ext cx="8702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Sources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AEB670-586D-BA2E-7748-50BAAF6D11C8}"/>
              </a:ext>
            </a:extLst>
          </p:cNvPr>
          <p:cNvSpPr txBox="1"/>
          <p:nvPr/>
        </p:nvSpPr>
        <p:spPr>
          <a:xfrm>
            <a:off x="5318461" y="5480567"/>
            <a:ext cx="767390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DF9"/>
                </a:solidFill>
              </a:rPr>
              <a:t>Fabric</a:t>
            </a:r>
          </a:p>
        </p:txBody>
      </p:sp>
    </p:spTree>
    <p:extLst>
      <p:ext uri="{BB962C8B-B14F-4D97-AF65-F5344CB8AC3E}">
        <p14:creationId xmlns:p14="http://schemas.microsoft.com/office/powerpoint/2010/main" val="2285384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191F4-A241-CDB4-495B-1EB8821A3851}"/>
              </a:ext>
            </a:extLst>
          </p:cNvPr>
          <p:cNvSpPr txBox="1"/>
          <p:nvPr/>
        </p:nvSpPr>
        <p:spPr>
          <a:xfrm>
            <a:off x="511277" y="334297"/>
            <a:ext cx="150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F96DC7-D0DE-AAD2-B269-05B665A13323}"/>
              </a:ext>
            </a:extLst>
          </p:cNvPr>
          <p:cNvSpPr txBox="1"/>
          <p:nvPr/>
        </p:nvSpPr>
        <p:spPr>
          <a:xfrm>
            <a:off x="599768" y="1268361"/>
            <a:ext cx="181479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Oracle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Employee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Department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483AF9-FDFB-7836-117F-A09E0875E315}"/>
              </a:ext>
            </a:extLst>
          </p:cNvPr>
          <p:cNvSpPr txBox="1"/>
          <p:nvPr/>
        </p:nvSpPr>
        <p:spPr>
          <a:xfrm>
            <a:off x="599768" y="2777613"/>
            <a:ext cx="202972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IBM DB2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Employee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Staff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87394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">
  <a:themeElements>
    <a:clrScheme name="Custom 1">
      <a:dk1>
        <a:srgbClr val="225B61"/>
      </a:dk1>
      <a:lt1>
        <a:srgbClr val="000000"/>
      </a:lt1>
      <a:dk2>
        <a:srgbClr val="B9DCD2"/>
      </a:dk2>
      <a:lt2>
        <a:srgbClr val="49C5B1"/>
      </a:lt2>
      <a:accent1>
        <a:srgbClr val="8DE971"/>
      </a:accent1>
      <a:accent2>
        <a:srgbClr val="0078D3"/>
      </a:accent2>
      <a:accent3>
        <a:srgbClr val="8661C5"/>
      </a:accent3>
      <a:accent4>
        <a:srgbClr val="C03BC3"/>
      </a:accent4>
      <a:accent5>
        <a:srgbClr val="FFB900"/>
      </a:accent5>
      <a:accent6>
        <a:srgbClr val="F3364C"/>
      </a:accent6>
      <a:hlink>
        <a:srgbClr val="225B61"/>
      </a:hlink>
      <a:folHlink>
        <a:srgbClr val="8DC8E8"/>
      </a:folHlink>
    </a:clrScheme>
    <a:fontScheme name="Custom 20">
      <a:majorFont>
        <a:latin typeface="Segoe Sans Display"/>
        <a:ea typeface=""/>
        <a:cs typeface=""/>
      </a:majorFont>
      <a:minorFont>
        <a:latin typeface="Segoe Sans Tex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V2Color _Microsoft Fabric Master Slide Template PPT" id="{C4955310-1F75-CB41-AE88-3C74BC568F8B}" vid="{D64952BC-5741-F749-9CC7-11175F2699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SharedWithUsers xmlns="b1c3d6fc-5689-40cc-899d-3b916b4ff5bf">
      <UserInfo>
        <DisplayName>Ronald Chang</DisplayName>
        <AccountId>26</AccountId>
        <AccountType/>
      </UserInfo>
      <UserInfo>
        <DisplayName>Ellie Lawler</DisplayName>
        <AccountId>207</AccountId>
        <AccountType/>
      </UserInfo>
      <UserInfo>
        <DisplayName>Miwa Monji</DisplayName>
        <AccountId>136</AccountId>
        <AccountType/>
      </UserInfo>
      <UserInfo>
        <DisplayName>Sharif Islam</DisplayName>
        <AccountId>622</AccountId>
        <AccountType/>
      </UserInfo>
      <UserInfo>
        <DisplayName>Jeeva Akr</DisplayName>
        <AccountId>39</AccountId>
        <AccountType/>
      </UserInfo>
      <UserInfo>
        <DisplayName>Jason Pereira</DisplayName>
        <AccountId>1123</AccountId>
        <AccountType/>
      </UserInfo>
      <UserInfo>
        <DisplayName>Will Johnson (GBB)</DisplayName>
        <AccountId>470</AccountId>
        <AccountType/>
      </UserInfo>
      <UserInfo>
        <DisplayName>Thasmika Gokal</DisplayName>
        <AccountId>142</AccountId>
        <AccountType/>
      </UserInfo>
      <UserInfo>
        <DisplayName>Cillian Mitchell</DisplayName>
        <AccountId>36</AccountId>
        <AccountType/>
      </UserInfo>
      <UserInfo>
        <DisplayName>Rajeev Jain</DisplayName>
        <AccountId>110</AccountId>
        <AccountType/>
      </UserInfo>
      <UserInfo>
        <DisplayName>Nellie Vasiliev (AG Consulting Partners, Inc.)</DisplayName>
        <AccountId>16</AccountId>
        <AccountType/>
      </UserInfo>
      <UserInfo>
        <DisplayName>Binaka Sankaran</DisplayName>
        <AccountId>745</AccountId>
        <AccountType/>
      </UserInfo>
      <UserInfo>
        <DisplayName>Ege Onelcin</DisplayName>
        <AccountId>42</AccountId>
        <AccountType/>
      </UserInfo>
      <UserInfo>
        <DisplayName>Karlien Vanden Eynde</DisplayName>
        <AccountId>18</AccountId>
        <AccountType/>
      </UserInfo>
      <UserInfo>
        <DisplayName>Swetha Mannepalli</DisplayName>
        <AccountId>8</AccountId>
        <AccountType/>
      </UserInfo>
      <UserInfo>
        <DisplayName>Dan Houdek</DisplayName>
        <AccountId>95</AccountId>
        <AccountType/>
      </UserInfo>
      <UserInfo>
        <DisplayName>Carlos Herquinio</DisplayName>
        <AccountId>1441</AccountId>
        <AccountType/>
      </UserInfo>
      <UserInfo>
        <DisplayName>Mohini Verma</DisplayName>
        <AccountId>1442</AccountId>
        <AccountType/>
      </UserInfo>
      <UserInfo>
        <DisplayName>Leighton Searle</DisplayName>
        <AccountId>1427</AccountId>
        <AccountType/>
      </UserInfo>
      <UserInfo>
        <DisplayName>Vaishali Chawan</DisplayName>
        <AccountId>633</AccountId>
        <AccountType/>
      </UserInfo>
      <UserInfo>
        <DisplayName>Tonio Lora</DisplayName>
        <AccountId>673</AccountId>
        <AccountType/>
      </UserInfo>
      <UserInfo>
        <DisplayName>Craig Butler</DisplayName>
        <AccountId>1158</AccountId>
        <AccountType/>
      </UserInfo>
      <UserInfo>
        <DisplayName>Kathrine Lord</DisplayName>
        <AccountId>1443</AccountId>
        <AccountType/>
      </UserInfo>
      <UserInfo>
        <DisplayName>Nilesh Khatri</DisplayName>
        <AccountId>826</AccountId>
        <AccountType/>
      </UserInfo>
      <UserInfo>
        <DisplayName>Mark Chen</DisplayName>
        <AccountId>813</AccountId>
        <AccountType/>
      </UserInfo>
      <UserInfo>
        <DisplayName>Suma Manohar</DisplayName>
        <AccountId>827</AccountId>
        <AccountType/>
      </UserInfo>
      <UserInfo>
        <DisplayName>Mo Lin</DisplayName>
        <AccountId>679</AccountId>
        <AccountType/>
      </UserInfo>
      <UserInfo>
        <DisplayName>Ravikanth Musti</DisplayName>
        <AccountId>639</AccountId>
        <AccountType/>
      </UserInfo>
      <UserInfo>
        <DisplayName>Debananda Ghosh</DisplayName>
        <AccountId>488</AccountId>
        <AccountType/>
      </UserInfo>
      <UserInfo>
        <DisplayName>Sana Sanai</DisplayName>
        <AccountId>825</AccountId>
        <AccountType/>
      </UserInfo>
      <UserInfo>
        <DisplayName>Nazeer Ali Mohammed</DisplayName>
        <AccountId>635</AccountId>
        <AccountType/>
      </UserInfo>
      <UserInfo>
        <DisplayName>Elizabeth Antoine</DisplayName>
        <AccountId>829</AccountId>
        <AccountType/>
      </UserInfo>
      <UserInfo>
        <DisplayName>Amjad Muhammad Khan</DisplayName>
        <AccountId>759</AccountId>
        <AccountType/>
      </UserInfo>
      <UserInfo>
        <DisplayName>Ayman Dabees</DisplayName>
        <AccountId>692</AccountId>
        <AccountType/>
      </UserInfo>
      <UserInfo>
        <DisplayName>Keyuna Evans (CELA)</DisplayName>
        <AccountId>239</AccountId>
        <AccountType/>
      </UserInfo>
      <UserInfo>
        <DisplayName>Nevenka Scott</DisplayName>
        <AccountId>1139</AccountId>
        <AccountType/>
      </UserInfo>
      <UserInfo>
        <DisplayName>Brian Robinson (CELA)</DisplayName>
        <AccountId>988</AccountId>
        <AccountType/>
      </UserInfo>
      <UserInfo>
        <DisplayName>Nicholas Wolfe (CELA)</DisplayName>
        <AccountId>1452</AccountId>
        <AccountType/>
      </UserInfo>
      <UserInfo>
        <DisplayName>Phiania Macpherson</DisplayName>
        <AccountId>1470</AccountId>
        <AccountType/>
      </UserInfo>
      <UserInfo>
        <DisplayName>Tulsi Wansai [Chillibreeze]</DisplayName>
        <AccountId>1419</AccountId>
        <AccountType/>
      </UserInfo>
      <UserInfo>
        <DisplayName>Wangui McKelvey</DisplayName>
        <AccountId>567</AccountId>
        <AccountType/>
      </UserInfo>
      <UserInfo>
        <DisplayName>Jermey Evans (CW)</DisplayName>
        <AccountId>644</AccountId>
        <AccountType/>
      </UserInfo>
      <UserInfo>
        <DisplayName>Macy Byerly</DisplayName>
        <AccountId>1617</AccountId>
        <AccountType/>
      </UserInfo>
      <UserInfo>
        <DisplayName>Rachel Bshero</DisplayName>
        <AccountId>573</AccountId>
        <AccountType/>
      </UserInfo>
      <UserInfo>
        <DisplayName>Lauren Ward</DisplayName>
        <AccountId>345</AccountId>
        <AccountType/>
      </UserInfo>
      <UserInfo>
        <DisplayName>Tyler Mays-Childers (he/him)</DisplayName>
        <AccountId>33</AccountId>
        <AccountType/>
      </UserInfo>
      <UserInfo>
        <DisplayName>Katherine Smiley (We Are Rosie LLC)</DisplayName>
        <AccountId>1341</AccountId>
        <AccountType/>
      </UserInfo>
    </SharedWithUsers>
    <TaxCatchAll xmlns="230e9df3-be65-4c73-a93b-d1236ebd677e" xsi:nil="true"/>
    <lcf76f155ced4ddcb4097134ff3c332f xmlns="07c5dfa0-33a3-47dd-bfb7-87fb96739115">
      <Terms xmlns="http://schemas.microsoft.com/office/infopath/2007/PartnerControls"/>
    </lcf76f155ced4ddcb4097134ff3c332f>
    <test xmlns="07c5dfa0-33a3-47dd-bfb7-87fb96739115" xsi:nil="true"/>
    <Time xmlns="07c5dfa0-33a3-47dd-bfb7-87fb96739115" xsi:nil="true"/>
    <Status xmlns="07c5dfa0-33a3-47dd-bfb7-87fb96739115" xsi:nil="true"/>
    <Date xmlns="07c5dfa0-33a3-47dd-bfb7-87fb9673911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6D235E0236944CB2D0154C00AD9253" ma:contentTypeVersion="26" ma:contentTypeDescription="Create a new document." ma:contentTypeScope="" ma:versionID="41aa48f0d0fcd022d15edc1db881b801">
  <xsd:schema xmlns:xsd="http://www.w3.org/2001/XMLSchema" xmlns:xs="http://www.w3.org/2001/XMLSchema" xmlns:p="http://schemas.microsoft.com/office/2006/metadata/properties" xmlns:ns1="http://schemas.microsoft.com/sharepoint/v3" xmlns:ns2="07c5dfa0-33a3-47dd-bfb7-87fb96739115" xmlns:ns3="b1c3d6fc-5689-40cc-899d-3b916b4ff5bf" xmlns:ns4="230e9df3-be65-4c73-a93b-d1236ebd677e" targetNamespace="http://schemas.microsoft.com/office/2006/metadata/properties" ma:root="true" ma:fieldsID="ad11de25f3f36b6e7a16ba6e6aa81921" ns1:_="" ns2:_="" ns3:_="" ns4:_="">
    <xsd:import namespace="http://schemas.microsoft.com/sharepoint/v3"/>
    <xsd:import namespace="07c5dfa0-33a3-47dd-bfb7-87fb96739115"/>
    <xsd:import namespace="b1c3d6fc-5689-40cc-899d-3b916b4ff5bf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Date" minOccurs="0"/>
                <xsd:element ref="ns2:Time" minOccurs="0"/>
                <xsd:element ref="ns2:test" minOccurs="0"/>
                <xsd:element ref="ns2:MediaServiceLocation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c5dfa0-33a3-47dd-bfb7-87fb967391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8" nillable="true" ma:displayName="Status" ma:format="Dropdown" ma:internalName="Status">
      <xsd:simpleType>
        <xsd:restriction base="dms:Text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" ma:index="25" nillable="true" ma:displayName="Date" ma:format="DateOnly" ma:internalName="Date">
      <xsd:simpleType>
        <xsd:restriction base="dms:DateTime"/>
      </xsd:simpleType>
    </xsd:element>
    <xsd:element name="Time" ma:index="26" nillable="true" ma:displayName="Time" ma:format="DateTime" ma:internalName="Time">
      <xsd:simpleType>
        <xsd:restriction base="dms:DateTime"/>
      </xsd:simpleType>
    </xsd:element>
    <xsd:element name="test" ma:index="27" nillable="true" ma:displayName="test" ma:format="DateOnly" ma:internalName="test">
      <xsd:simpleType>
        <xsd:restriction base="dms:DateTime"/>
      </xsd:simpleType>
    </xsd:element>
    <xsd:element name="MediaServiceLocation" ma:index="28" nillable="true" ma:displayName="Location" ma:internalName="MediaServiceLocation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3d6fc-5689-40cc-899d-3b916b4ff5b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1603ea5b-56ba-41f6-bada-27c0bbbe9ac1}" ma:internalName="TaxCatchAll" ma:showField="CatchAllData" ma:web="b1c3d6fc-5689-40cc-899d-3b916b4ff5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A2F610-1193-44B2-A4F0-A119C8973799}">
  <ds:schemaRefs>
    <ds:schemaRef ds:uri="http://purl.org/dc/elements/1.1/"/>
    <ds:schemaRef ds:uri="http://schemas.microsoft.com/sharepoint/v3"/>
    <ds:schemaRef ds:uri="http://schemas.openxmlformats.org/package/2006/metadata/core-properties"/>
    <ds:schemaRef ds:uri="http://purl.org/dc/dcmitype/"/>
    <ds:schemaRef ds:uri="b1c3d6fc-5689-40cc-899d-3b916b4ff5bf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www.w3.org/XML/1998/namespace"/>
    <ds:schemaRef ds:uri="07c5dfa0-33a3-47dd-bfb7-87fb9673911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552522C-5F65-440E-AA4D-509D313DD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7c5dfa0-33a3-47dd-bfb7-87fb96739115"/>
    <ds:schemaRef ds:uri="b1c3d6fc-5689-40cc-899d-3b916b4ff5bf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5624A2-8889-4574-B194-C786A1454E5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17584</TotalTime>
  <Words>247</Words>
  <Application>Microsoft Macintosh PowerPoint</Application>
  <PresentationFormat>Widescreen</PresentationFormat>
  <Paragraphs>55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Segoe Sans Display</vt:lpstr>
      <vt:lpstr>Segoe Sans Small Semilight</vt:lpstr>
      <vt:lpstr>Segoe UI</vt:lpstr>
      <vt:lpstr>Wingdings</vt:lpstr>
      <vt:lpstr>Title Slides</vt:lpstr>
      <vt:lpstr>think-cell Slide</vt:lpstr>
      <vt:lpstr>Microsoft Purview  The jcopurview Demo company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Purview-overview</dc:title>
  <dc:creator>Cillian Mitchell</dc:creator>
  <cp:lastModifiedBy>Jan Cordtz</cp:lastModifiedBy>
  <cp:revision>9</cp:revision>
  <cp:lastPrinted>2025-06-18T05:57:52Z</cp:lastPrinted>
  <dcterms:created xsi:type="dcterms:W3CDTF">2024-01-23T16:36:38Z</dcterms:created>
  <dcterms:modified xsi:type="dcterms:W3CDTF">2026-04-29T13:57:38Z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0x010100D86D235E0236944CB2D0154C00AD9253</vt:lpwstr>
  </property>
  <property fmtid="{D5CDD505-2E9C-101B-9397-08002B2CF9AE}" pid="3" name="MediaServiceImageTags">
    <vt:lpwstr/>
  </property>
  <property fmtid="{D5CDD505-2E9C-101B-9397-08002B2CF9AE}" pid="4" name="_dlc_policyId">
    <vt:lpwstr>0x01010070AB3889E58DB141A6E1281B02136174|-369733750</vt:lpwstr>
  </property>
  <property fmtid="{D5CDD505-2E9C-101B-9397-08002B2CF9AE}" pid="5" name="ItemRetentionFormula">
    <vt:lpwstr>&lt;formula id="Microsoft.Office.RecordsManagement.PolicyFeatures.Expiration.Formula.BuiltIn"&gt;&lt;number&gt;30&lt;/number&gt;&lt;property&gt;Modified&lt;/property&gt;&lt;propertyId&gt;28cf69c5-fa48-462a-b5cd-27b6f9d2bd5f&lt;/propertyId&gt;&lt;period&gt;days&lt;/period&gt;&lt;/formula&gt;</vt:lpwstr>
  </property>
</Properties>
</file>